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entry wait (min)</c:v>
                </c:pt>
              </c:strCache>
            </c:strRef>
          </c:tx>
          <c:spPr>
            <a:solidFill>
              <a:srgbClr val="BDD0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D0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D0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DD0E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rush_hour</c:v>
                  </c:pt>
                  <c:pt idx="2">
                    <c:v>limited_slots</c:v>
                  </c:pt>
                  <c:pt idx="3">
                    <c:v>slow_entry</c:v>
                  </c:pt>
                  <c:pt idx="4">
                    <c:v>exit_congestion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49.5</c:v>
                </c:pt>
                <c:pt idx="1">
                  <c:v>108.7</c:v>
                </c:pt>
                <c:pt idx="2">
                  <c:v>69</c:v>
                </c:pt>
                <c:pt idx="3">
                  <c:v>127</c:v>
                </c:pt>
                <c:pt idx="4">
                  <c:v>57.2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exit wait (min)</c:v>
                </c:pt>
              </c:strCache>
            </c:strRef>
          </c:tx>
          <c:spPr>
            <a:solidFill>
              <a:srgbClr val="BDD0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D0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D0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D0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DD0E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rush_hour</c:v>
                  </c:pt>
                  <c:pt idx="2">
                    <c:v>limited_slots</c:v>
                  </c:pt>
                  <c:pt idx="3">
                    <c:v>slow_entry</c:v>
                  </c:pt>
                  <c:pt idx="4">
                    <c:v>exit_congestion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33.7</c:v>
                </c:pt>
                <c:pt idx="1">
                  <c:v>37.6</c:v>
                </c:pt>
                <c:pt idx="2">
                  <c:v>45</c:v>
                </c:pt>
                <c:pt idx="3">
                  <c:v>5.5</c:v>
                </c:pt>
                <c:pt idx="4">
                  <c:v>119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slow_entry: entry wait across maps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D0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 entrance
1 exit</c:v>
                  </c:pt>
                  <c:pt idx="1">
                    <c:v>2 entrance
1 exit</c:v>
                  </c:pt>
                  <c:pt idx="2">
                    <c:v>1 entrance
2 exit</c:v>
                  </c:pt>
                  <c:pt idx="3">
                    <c:v>2 entrance
2 exit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</c:v>
                </c:pt>
                <c:pt idx="1">
                  <c:v>52.1</c:v>
                </c:pt>
                <c:pt idx="2">
                  <c:v>127.2</c:v>
                </c:pt>
                <c:pt idx="3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exit_congestion: exit wait across maps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 entrance
1 exit</c:v>
                  </c:pt>
                  <c:pt idx="1">
                    <c:v>2 entrance
1 exit</c:v>
                  </c:pt>
                  <c:pt idx="2">
                    <c:v>1 entrance
2 exit</c:v>
                  </c:pt>
                  <c:pt idx="3">
                    <c:v>2 entrance
2 exit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119</c:v>
                </c:pt>
                <c:pt idx="1">
                  <c:v>154.3</c:v>
                </c:pt>
                <c:pt idx="2">
                  <c:v>18.2</c:v>
                </c:pt>
                <c:pt idx="3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05840"/>
            <a:ext cx="9034272" cy="237744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MALL PARKING FLOW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5B6"/>
                </a:solidFill>
              </a:rPr>
              <a:t>A Discrete-Event Simulation of Entry, Parking &amp; Exit Congestion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CSE 10/L – Modeling and Simulation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Group Members: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4023360" cy="0"/>
          </a:xfrm>
          <a:prstGeom prst="line">
            <a:avLst/>
          </a:prstGeom>
          <a:noFill/>
          <a:ln w="15240">
            <a:solidFill>
              <a:srgbClr val="BDD0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Instructor: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3657600"/>
            <a:ext cx="3566160" cy="0"/>
          </a:xfrm>
          <a:prstGeom prst="line">
            <a:avLst/>
          </a:prstGeom>
          <a:noFill/>
          <a:ln w="15240">
            <a:solidFill>
              <a:srgbClr val="BDD0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Section: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2468880" cy="0"/>
          </a:xfrm>
          <a:prstGeom prst="line">
            <a:avLst/>
          </a:prstGeom>
          <a:noFill/>
          <a:ln w="15240">
            <a:solidFill>
              <a:srgbClr val="BDD0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Date: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4160520"/>
            <a:ext cx="2468880" cy="0"/>
          </a:xfrm>
          <a:prstGeom prst="line">
            <a:avLst/>
          </a:prstGeom>
          <a:noFill/>
          <a:ln w="15240">
            <a:solidFill>
              <a:srgbClr val="BDD0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Department of Arts and Sciences Education · Computer Science Program · UM Visayan Campus, Tagum City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</a:rPr>
              <a:t>A parking lot is a queuing system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11480" y="1709928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</a:rPr>
              <a:t>Vehicles arrive → wait at entry gate → search &amp; park → shop → queue at exit gate → leave.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</a:rPr>
              <a:t>Each gate lane serves one vehicle at a time; the lot has finite slots.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</a:rPr>
              <a:t>Congestion (queues) forms whenever demand outpaces service.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</a:rPr>
              <a:t>Built with Python + SimPy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11480" y="3538728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</a:rPr>
              <a:t>Discrete-event simulation (DES) models the lot event by event.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</a:rPr>
              <a:t>Top-down browser dashboard visualizes queues, gates, and slots live.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</a:rPr>
              <a:t>Two independent axes: Scenario (demand) × Map (gate layout).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4114800" cy="3520440"/>
          </a:xfrm>
          <a:prstGeom prst="rect">
            <a:avLst/>
          </a:prstGeom>
          <a:solidFill>
            <a:srgbClr val="F0F4FA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Vehicle Journey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1801368"/>
            <a:ext cx="3383280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801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Arrive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94576" y="2057400"/>
            <a:ext cx="0" cy="118872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176272"/>
            <a:ext cx="3383280" cy="256032"/>
          </a:xfrm>
          <a:prstGeom prst="rect">
            <a:avLst/>
          </a:prstGeom>
          <a:solidFill>
            <a:srgbClr val="D5E3F0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1762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Entry Queue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94576" y="2432304"/>
            <a:ext cx="0" cy="118872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2551176"/>
            <a:ext cx="3383280" cy="256032"/>
          </a:xfrm>
          <a:prstGeom prst="rect">
            <a:avLst/>
          </a:prstGeom>
          <a:solidFill>
            <a:srgbClr val="D6E4F0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5511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Entry Gate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94576" y="2807208"/>
            <a:ext cx="0" cy="118872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926080"/>
            <a:ext cx="3383280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Search &amp; Park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94576" y="3182112"/>
            <a:ext cx="0" cy="118872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3300984"/>
            <a:ext cx="3383280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3009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Dwell (shop)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94576" y="3557016"/>
            <a:ext cx="0" cy="118872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3675888"/>
            <a:ext cx="3383280" cy="256032"/>
          </a:xfrm>
          <a:prstGeom prst="rect">
            <a:avLst/>
          </a:prstGeom>
          <a:solidFill>
            <a:srgbClr val="D5E3F0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675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Exit Queue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94576" y="3931920"/>
            <a:ext cx="0" cy="118872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4050792"/>
            <a:ext cx="3383280" cy="256032"/>
          </a:xfrm>
          <a:prstGeom prst="rect">
            <a:avLst/>
          </a:prstGeom>
          <a:solidFill>
            <a:srgbClr val="D6E4F0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4050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Exit Gate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94576" y="4306824"/>
            <a:ext cx="0" cy="118872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0" y="4425696"/>
            <a:ext cx="3383280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44256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Done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Problem Definition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2743200" cy="2011680"/>
          </a:xfrm>
          <a:prstGeom prst="rect">
            <a:avLst/>
          </a:prstGeom>
          <a:solidFill>
            <a:srgbClr val="F0F4FA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7432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441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Entry Gate Bottleneck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1208" y="1764792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</a:rPr>
              <a:t>A queue builds when arrivals cluster or the gate is slow. Vehicles wait before they can even enter the lot.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743200" cy="2011680"/>
          </a:xfrm>
          <a:prstGeom prst="rect">
            <a:avLst/>
          </a:prstGeom>
          <a:solidFill>
            <a:srgbClr val="F0F4FA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25880"/>
            <a:ext cx="27432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3441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Exit Gate Bottleneck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01568" y="1764792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</a:rPr>
              <a:t>A queue builds when many vehicles leave at once or exit processing is slow. Can trap parked cars for long periods.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743200" cy="2011680"/>
          </a:xfrm>
          <a:prstGeom prst="rect">
            <a:avLst/>
          </a:prstGeom>
          <a:solidFill>
            <a:srgbClr val="F0F4FA"/>
          </a:solidFill>
          <a:ln w="25400">
            <a:solidFill>
              <a:srgbClr val="C55A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325880"/>
            <a:ext cx="2743200" cy="34747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3441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Denials (Lot Full)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81928" y="1764792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</a:rPr>
              <a:t>When the lot is full, vehicles are denied entry entirely — lost visits for the mall.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502152"/>
            <a:ext cx="8321040" cy="822960"/>
          </a:xfrm>
          <a:prstGeom prst="rect">
            <a:avLst/>
          </a:prstGeom>
          <a:solidFill>
            <a:srgbClr val="EDF2F8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593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Why it matters: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356616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Long waits hurt customer experience and can spill onto public roads. Denials = lost visits. Management needs to know which bottleneck dominates — and whether a second gate lane is worth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98448"/>
            <a:ext cx="8321040" cy="603504"/>
          </a:xfrm>
          <a:prstGeom prst="rect">
            <a:avLst/>
          </a:prstGeom>
          <a:solidFill>
            <a:srgbClr val="F0F4FA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475488" cy="6035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35331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Analyze queue performance at the entry and exit gates (waiting time and queue length).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832104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93392"/>
            <a:ext cx="475488" cy="6035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93392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204825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Measure resource utilization of the entry gate(s), exit gate(s), and parking capacity.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688336"/>
            <a:ext cx="8321040" cy="603504"/>
          </a:xfrm>
          <a:prstGeom prst="rect">
            <a:avLst/>
          </a:prstGeom>
          <a:solidFill>
            <a:srgbClr val="F0F4FA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688336"/>
            <a:ext cx="475488" cy="6035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88336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7552" y="274320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Quantify throughput (vehicles completed per hour) and total time-in-system.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832104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383280"/>
            <a:ext cx="475488" cy="6035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83280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7552" y="343814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Compare operational scenarios — different arrival patterns, reduced capacity, slow entry, slow exit — to identify the dominant bottleneck.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078224"/>
            <a:ext cx="8321040" cy="603504"/>
          </a:xfrm>
          <a:prstGeom prst="rect">
            <a:avLst/>
          </a:prstGeom>
          <a:solidFill>
            <a:srgbClr val="FFF3E0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078224"/>
            <a:ext cx="475488" cy="603504"/>
          </a:xfrm>
          <a:prstGeom prst="rect">
            <a:avLst/>
          </a:prstGeom>
          <a:solidFill>
            <a:srgbClr val="C55A11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78224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7552" y="413308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Compare gate configurations — same demand on 1-gate vs. 2-gate maps ("one cashier vs. two cashiers").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4A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System Model &amp; Design — DES Elements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98448"/>
            <a:ext cx="8321040" cy="594360"/>
          </a:xfrm>
          <a:prstGeom prst="rect">
            <a:avLst/>
          </a:prstGeom>
          <a:solidFill>
            <a:srgbClr val="F0F4FA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533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Entities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84832" y="1389888"/>
            <a:ext cx="0" cy="411480"/>
          </a:xfrm>
          <a:prstGeom prst="line">
            <a:avLst/>
          </a:prstGeom>
          <a:noFill/>
          <a:ln w="12700">
            <a:solidFill>
              <a:srgbClr val="BDD0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2848" y="1353312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D3748"/>
                </a:solidFill>
              </a:rPr>
              <a:t>Vehicles (cars &amp; motorcycles) — each with arrival time, type, and assigned lane.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984248"/>
            <a:ext cx="832104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391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Events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84832" y="2075688"/>
            <a:ext cx="0" cy="411480"/>
          </a:xfrm>
          <a:prstGeom prst="line">
            <a:avLst/>
          </a:prstGeom>
          <a:noFill/>
          <a:ln w="12700">
            <a:solidFill>
              <a:srgbClr val="BDD0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2039112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D3748"/>
                </a:solidFill>
              </a:rPr>
              <a:t>Arrival · gate service start/end · gate crossing · search/park · exit request · departure.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670048"/>
            <a:ext cx="8321040" cy="594360"/>
          </a:xfrm>
          <a:prstGeom prst="rect">
            <a:avLst/>
          </a:prstGeom>
          <a:solidFill>
            <a:srgbClr val="F0F4FA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7249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Resources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84832" y="2761488"/>
            <a:ext cx="0" cy="411480"/>
          </a:xfrm>
          <a:prstGeom prst="line">
            <a:avLst/>
          </a:prstGeom>
          <a:noFill/>
          <a:ln w="12700">
            <a:solidFill>
              <a:srgbClr val="BDD0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2848" y="2724912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D3748"/>
                </a:solidFill>
              </a:rPr>
              <a:t>Entry gate(s) and exit gate(s) (SimPy Resource, capacity 1 per lane) + typed parking slot pools.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355848"/>
            <a:ext cx="832104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107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Queues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84832" y="3447288"/>
            <a:ext cx="0" cy="411480"/>
          </a:xfrm>
          <a:prstGeom prst="line">
            <a:avLst/>
          </a:prstGeom>
          <a:noFill/>
          <a:ln w="12700">
            <a:solidFill>
              <a:srgbClr val="BDD0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12848" y="3410712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D3748"/>
                </a:solidFill>
              </a:rPr>
              <a:t>Entry queue(s) and exit queue(s), FIFO. Each gate lane has its own queue.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041648"/>
            <a:ext cx="8321040" cy="594360"/>
          </a:xfrm>
          <a:prstGeom prst="rect">
            <a:avLst/>
          </a:prstGeom>
          <a:solidFill>
            <a:srgbClr val="F0F4FA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965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State variables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084832" y="4133088"/>
            <a:ext cx="0" cy="411480"/>
          </a:xfrm>
          <a:prstGeom prst="line">
            <a:avLst/>
          </a:prstGeom>
          <a:noFill/>
          <a:ln w="12700">
            <a:solidFill>
              <a:srgbClr val="BDD0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12848" y="4096512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D3748"/>
                </a:solidFill>
              </a:rPr>
              <a:t>Per-vehicle state ×11 · queue lengths · slots free/occupied · denied/completed count · sim clock.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" y="47914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Simulation type: discrete-event · single replication per (scenario × map) · deterministic seeded RNG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4A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Two Independent Configuration Axes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98448"/>
            <a:ext cx="4023360" cy="3383280"/>
          </a:xfrm>
          <a:prstGeom prst="rect">
            <a:avLst/>
          </a:prstGeom>
          <a:solidFill>
            <a:srgbClr val="F0F4FA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40233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167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SCENARIO  (Demand Profile)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7373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How busy the lot is + how fast gates serve.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Sets: # vehicles, arrival pattern, usable slots, entry/exit service times.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5 profiles: baseline, rush_hour, limited_slots, slow_entry, exit_congestion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944368"/>
            <a:ext cx="1783080" cy="274320"/>
          </a:xfrm>
          <a:prstGeom prst="rect">
            <a:avLst/>
          </a:prstGeom>
          <a:solidFill>
            <a:srgbClr val="D5E3F0"/>
          </a:solidFill>
          <a:ln w="889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9443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</a:rPr>
              <a:t>baseline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2944368"/>
            <a:ext cx="1783080" cy="274320"/>
          </a:xfrm>
          <a:prstGeom prst="rect">
            <a:avLst/>
          </a:prstGeom>
          <a:solidFill>
            <a:srgbClr val="D5E3F0"/>
          </a:solidFill>
          <a:ln w="889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29443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</a:rPr>
              <a:t>rush_hour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3328416"/>
            <a:ext cx="1783080" cy="274320"/>
          </a:xfrm>
          <a:prstGeom prst="rect">
            <a:avLst/>
          </a:prstGeom>
          <a:solidFill>
            <a:srgbClr val="D5E3F0"/>
          </a:solidFill>
          <a:ln w="889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328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</a:rPr>
              <a:t>limited_slots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87168" y="3328416"/>
            <a:ext cx="1783080" cy="274320"/>
          </a:xfrm>
          <a:prstGeom prst="rect">
            <a:avLst/>
          </a:prstGeom>
          <a:solidFill>
            <a:srgbClr val="D5E3F0"/>
          </a:solidFill>
          <a:ln w="889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3328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</a:rPr>
              <a:t>slow_entry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712464"/>
            <a:ext cx="1783080" cy="274320"/>
          </a:xfrm>
          <a:prstGeom prst="rect">
            <a:avLst/>
          </a:prstGeom>
          <a:solidFill>
            <a:srgbClr val="D5E3F0"/>
          </a:solidFill>
          <a:ln w="889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7124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</a:rPr>
              <a:t>exit_congestion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298448"/>
            <a:ext cx="4023360" cy="3383280"/>
          </a:xfrm>
          <a:prstGeom prst="rect">
            <a:avLst/>
          </a:prstGeom>
          <a:solidFill>
            <a:srgbClr val="F0F4FA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298448"/>
            <a:ext cx="402336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3167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MAP  (Gate Layout)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1737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How many entry / exit gate lanes exist (1 or 2 each).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Sets SimPy resource capacity; 2-gate map = 2 parallel single-server lanes.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28032" y="2688336"/>
            <a:ext cx="3767328" cy="365760"/>
          </a:xfrm>
          <a:prstGeom prst="rect">
            <a:avLst/>
          </a:prstGeom>
          <a:solidFill>
            <a:srgbClr val="D5E3F0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7066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one_entrance_one_exit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29984" y="27066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 entry  ·  1 exit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28032" y="3145536"/>
            <a:ext cx="3767328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1638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two_entrance_one_exit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29984" y="31638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2 entry  ·  1 exit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28032" y="3602736"/>
            <a:ext cx="3767328" cy="365760"/>
          </a:xfrm>
          <a:prstGeom prst="rect">
            <a:avLst/>
          </a:prstGeom>
          <a:solidFill>
            <a:srgbClr val="D5E3F0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621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one_entrance_two_exit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9984" y="3621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 entry  ·  2 exit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28032" y="4059936"/>
            <a:ext cx="3767328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BDD0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40782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two_entrance_two_exit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9984" y="40782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2 entry  ·  2 exit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34256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5A11"/>
                </a:solidFill>
              </a:rPr>
              <a:t>×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279392" y="4133088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any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combination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4B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Vehicle Lifecycle — Process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25880"/>
            <a:ext cx="73152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BDD0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4E79"/>
                </a:solidFill>
              </a:rPr>
              <a:t>scheduled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005840" y="1581912"/>
            <a:ext cx="82296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" y="1325880"/>
            <a:ext cx="731520" cy="512064"/>
          </a:xfrm>
          <a:prstGeom prst="rect">
            <a:avLst/>
          </a:prstGeom>
          <a:solidFill>
            <a:srgbClr val="D5E3F0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13258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4E79"/>
                </a:solidFill>
              </a:rPr>
              <a:t>entry_queue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1819656" y="1581912"/>
            <a:ext cx="82296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1325880"/>
            <a:ext cx="73152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BDD0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01952" y="13258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4E79"/>
                </a:solidFill>
              </a:rPr>
              <a:t>approaching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F4E79"/>
                </a:solidFill>
              </a:rPr>
              <a:t>gate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633472" y="1581912"/>
            <a:ext cx="82296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325880"/>
            <a:ext cx="731520" cy="512064"/>
          </a:xfrm>
          <a:prstGeom prst="rect">
            <a:avLst/>
          </a:prstGeom>
          <a:solidFill>
            <a:srgbClr val="D6E4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13258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4E79"/>
                </a:solidFill>
              </a:rPr>
              <a:t>gate_wait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447288" y="1581912"/>
            <a:ext cx="82296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9584" y="1325880"/>
            <a:ext cx="73152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BDD0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13258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4E79"/>
                </a:solidFill>
              </a:rPr>
              <a:t>gate_crossing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261104" y="1581912"/>
            <a:ext cx="82296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1325880"/>
            <a:ext cx="73152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BDD0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3258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4E79"/>
                </a:solidFill>
              </a:rPr>
              <a:t>searching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5074920" y="1581912"/>
            <a:ext cx="82296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57216" y="1325880"/>
            <a:ext cx="731520" cy="512064"/>
          </a:xfrm>
          <a:prstGeom prst="rect">
            <a:avLst/>
          </a:prstGeom>
          <a:solidFill>
            <a:srgbClr val="D5E3F0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13258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4E79"/>
                </a:solidFill>
              </a:rPr>
              <a:t>parked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5888736" y="1581912"/>
            <a:ext cx="82296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71032" y="1325880"/>
            <a:ext cx="731520" cy="512064"/>
          </a:xfrm>
          <a:prstGeom prst="rect">
            <a:avLst/>
          </a:prstGeom>
          <a:solidFill>
            <a:srgbClr val="D5E3F0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13258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4E79"/>
                </a:solidFill>
              </a:rPr>
              <a:t>exit_queue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702552" y="1581912"/>
            <a:ext cx="82296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84848" y="1325880"/>
            <a:ext cx="731520" cy="512064"/>
          </a:xfrm>
          <a:prstGeom prst="rect">
            <a:avLst/>
          </a:prstGeom>
          <a:solidFill>
            <a:srgbClr val="D6E4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13258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4E79"/>
                </a:solidFill>
              </a:rPr>
              <a:t>exiting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516368" y="1581912"/>
            <a:ext cx="82296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98664" y="1325880"/>
            <a:ext cx="731520" cy="512064"/>
          </a:xfrm>
          <a:prstGeom prst="rect">
            <a:avLst/>
          </a:prstGeom>
          <a:solidFill>
            <a:srgbClr val="D6EDD8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98664" y="13258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4E79"/>
                </a:solidFill>
              </a:rPr>
              <a:t>done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3264408" y="1975104"/>
            <a:ext cx="914400" cy="420624"/>
          </a:xfrm>
          <a:prstGeom prst="rect">
            <a:avLst/>
          </a:prstGeom>
          <a:solidFill>
            <a:srgbClr val="FFF3E0"/>
          </a:solidFill>
          <a:ln w="19050">
            <a:solidFill>
              <a:srgbClr val="C55A11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3264408" y="19751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5A11"/>
                </a:solidFill>
              </a:rPr>
              <a:t>DENIED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27248" y="2414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(no compatible slot)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721608" y="2395728"/>
            <a:ext cx="0" cy="228600"/>
          </a:xfrm>
          <a:prstGeom prst="line">
            <a:avLst/>
          </a:prstGeom>
          <a:noFill/>
          <a:ln w="10160">
            <a:solidFill>
              <a:srgbClr val="C55A1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1608" y="2624328"/>
            <a:ext cx="2615184" cy="0"/>
          </a:xfrm>
          <a:prstGeom prst="line">
            <a:avLst/>
          </a:prstGeom>
          <a:noFill/>
          <a:ln w="10160">
            <a:solidFill>
              <a:srgbClr val="C55A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6792" y="1837944"/>
            <a:ext cx="0" cy="786384"/>
          </a:xfrm>
          <a:prstGeom prst="line">
            <a:avLst/>
          </a:prstGeom>
          <a:noFill/>
          <a:ln w="10160">
            <a:solidFill>
              <a:srgbClr val="C55A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Resources held: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508760" y="27432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</a:rPr>
              <a:t>Entry gate: approach → cross.   Exit gate: exit service → merge.   Parking slot: reserved at gate → released on exit request.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82880" y="3200400"/>
            <a:ext cx="320040" cy="201168"/>
          </a:xfrm>
          <a:prstGeom prst="rect">
            <a:avLst/>
          </a:prstGeom>
          <a:solidFill>
            <a:srgbClr val="D5E3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32004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Queue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331720" y="3200400"/>
            <a:ext cx="320040" cy="201168"/>
          </a:xfrm>
          <a:prstGeom prst="rect">
            <a:avLst/>
          </a:prstGeom>
          <a:solidFill>
            <a:srgbClr val="D6E4F0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15768" y="32004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Gate service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80560" y="3200400"/>
            <a:ext cx="320040" cy="201168"/>
          </a:xfrm>
          <a:prstGeom prst="rect">
            <a:avLst/>
          </a:prstGeom>
          <a:solidFill>
            <a:srgbClr val="D6EDD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2004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Terminal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29400" y="3200400"/>
            <a:ext cx="32004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13448" y="32004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Denied branch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82880" y="3538728"/>
            <a:ext cx="8778240" cy="621792"/>
          </a:xfrm>
          <a:prstGeom prst="rect">
            <a:avLst/>
          </a:prstGeom>
          <a:solidFill>
            <a:srgbClr val="F0F4FA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6484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State mapping:  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463040" y="361188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scheduled (A) → entry_queue (B) → approaching_gate (D) → gate_wait (E) → gate_crossing (H) → searching (I) → parked (J) → exit_queue (L) → exiting (N/O) → done (P)   +   denied branch from 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Assumptions &amp; Input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98448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Deterministic seeded RNG → repeatable results (seed 101–505).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Each gate lane = single server, FIFO; 2-gate map = two parallel lanes.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Cars → car slots; motorcycles → moto slots; denied if no compatible slot.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Search time grows with lot occupancy.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No field data — ranges chosen for realistic observable behavior.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85900" y="3401568"/>
            <a:ext cx="169164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5900" y="3401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Scenario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77540" y="3401568"/>
            <a:ext cx="59436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7540" y="34015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Vehs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71900" y="3401568"/>
            <a:ext cx="68580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1900" y="34015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Slots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57700" y="3401568"/>
            <a:ext cx="128016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7700" y="3401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Arrival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37860" y="3401568"/>
            <a:ext cx="100584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37860" y="3401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Entry svc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43700" y="3401568"/>
            <a:ext cx="91440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3700" y="3401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Exit svc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485900" y="3657600"/>
            <a:ext cx="169164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85900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4E79"/>
                </a:solidFill>
              </a:rPr>
              <a:t>baseline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77540" y="3657600"/>
            <a:ext cx="59436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7540" y="36576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44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71900" y="3657600"/>
            <a:ext cx="68580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1900" y="36576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72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57700" y="3657600"/>
            <a:ext cx="128016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7700" y="3657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spread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37860" y="3657600"/>
            <a:ext cx="100584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37860" y="3657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0.7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43700" y="3657600"/>
            <a:ext cx="91440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37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0.8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485900" y="3913632"/>
            <a:ext cx="16916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85900" y="39136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4E79"/>
                </a:solidFill>
              </a:rPr>
              <a:t>rush_hour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77540" y="3913632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77540" y="39136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60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71900" y="3913632"/>
            <a:ext cx="685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1900" y="39136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72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57700" y="3913632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57700" y="3913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clustered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37860" y="3913632"/>
            <a:ext cx="1005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37860" y="3913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1.0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43700" y="3913632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43700" y="3913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0.95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485900" y="4169664"/>
            <a:ext cx="169164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85900" y="41696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4E79"/>
                </a:solidFill>
              </a:rPr>
              <a:t>limited_slots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177540" y="4169664"/>
            <a:ext cx="59436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77540" y="41696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60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71900" y="4169664"/>
            <a:ext cx="68580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71900" y="4169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57700" y="4169664"/>
            <a:ext cx="128016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57700" y="41696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spread/long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37860" y="4169664"/>
            <a:ext cx="100584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37860" y="4169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0.75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43700" y="4169664"/>
            <a:ext cx="91440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43700" y="4169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0.85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485900" y="4425696"/>
            <a:ext cx="16916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85900" y="4425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4E79"/>
                </a:solidFill>
              </a:rPr>
              <a:t>slow_entry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177540" y="4425696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77540" y="44256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50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771900" y="4425696"/>
            <a:ext cx="685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71900" y="44256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72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457700" y="4425696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57700" y="4425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spread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37860" y="4425696"/>
            <a:ext cx="1005840" cy="256032"/>
          </a:xfrm>
          <a:prstGeom prst="rect">
            <a:avLst/>
          </a:prstGeom>
          <a:solidFill>
            <a:srgbClr val="FFF3E0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37860" y="44256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5A11"/>
                </a:solidFill>
              </a:rPr>
              <a:t>3.2 ★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743700" y="4425696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43700" y="4425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0.8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485900" y="4681728"/>
            <a:ext cx="169164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85900" y="46817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4E79"/>
                </a:solidFill>
              </a:rPr>
              <a:t>exit_congestion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177540" y="4681728"/>
            <a:ext cx="59436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77540" y="46817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52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771900" y="4681728"/>
            <a:ext cx="68580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71900" y="4681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72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457700" y="4681728"/>
            <a:ext cx="128016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5770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spread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737860" y="4681728"/>
            <a:ext cx="1005840" cy="256032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37860" y="4681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0.7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743700" y="4681728"/>
            <a:ext cx="914400" cy="256032"/>
          </a:xfrm>
          <a:prstGeom prst="rect">
            <a:avLst/>
          </a:prstGeom>
          <a:solidFill>
            <a:srgbClr val="FFF3E0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43700" y="4681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5A11"/>
                </a:solidFill>
              </a:rPr>
              <a:t>4.0 ★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11480" y="499262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★ = stressed parameter.  Map axis is orthogonal — any scenario runs on any of the 4 gate layouts.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Live Demonstration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98448"/>
            <a:ext cx="8321040" cy="576072"/>
          </a:xfrm>
          <a:prstGeom prst="rect">
            <a:avLst/>
          </a:prstGeom>
          <a:solidFill>
            <a:srgbClr val="F0F4FA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438912" cy="5760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438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335024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Start baseline / one_entrance_one_exit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572768"/>
            <a:ext cx="7635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</a:rPr>
              <a:t>Point out: entry queue → gate → search → park → dwell → exit queue → exit.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65960"/>
            <a:ext cx="832104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65960"/>
            <a:ext cx="438912" cy="5760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65960"/>
            <a:ext cx="438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002536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Switch to rush_hour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635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</a:rPr>
              <a:t>Watch the entry queue spike to 55. Same capacity, clustering is the stressor.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633472"/>
            <a:ext cx="8321040" cy="576072"/>
          </a:xfrm>
          <a:prstGeom prst="rect">
            <a:avLst/>
          </a:prstGeom>
          <a:solidFill>
            <a:srgbClr val="F0F4FA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633472"/>
            <a:ext cx="438912" cy="5760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33472"/>
            <a:ext cx="438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2670048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Switch to limited_slots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2907792"/>
            <a:ext cx="7635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</a:rPr>
              <a:t>Show DENIED vehicles and the denied counter. 13 denials, 100% occupancy.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300984"/>
            <a:ext cx="832104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300984"/>
            <a:ext cx="438912" cy="5760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00984"/>
            <a:ext cx="438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3337560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Switch maps (e.g. two_entrance_one_exit on slow_entry)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3575304"/>
            <a:ext cx="7635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</a:rPr>
              <a:t>Change only the map — entry wait drops 127 → 52 min. Same demand, more capacity.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968496"/>
            <a:ext cx="8321040" cy="576072"/>
          </a:xfrm>
          <a:prstGeom prst="rect">
            <a:avLst/>
          </a:prstGeom>
          <a:solidFill>
            <a:srgbClr val="F0F4FA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968496"/>
            <a:ext cx="438912" cy="5760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968496"/>
            <a:ext cx="438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4005072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Custom Inputs panel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0120" y="4242816"/>
            <a:ext cx="7635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</a:rPr>
              <a:t>Adjust vehicle count, slots, service times, gate count live → Apply &amp; Run.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700016"/>
            <a:ext cx="832104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7183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5A11"/>
                </a:solidFill>
              </a:rPr>
              <a:t>⚠  Be ready to change scenario, map, or custom inputs on request — that covers 'modify inputs during questioning.'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7A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Results — Five Scenarios (one_entrance_one_exit map)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96596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Metric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23160" y="1280160"/>
            <a:ext cx="123444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2801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baseline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0" y="1280160"/>
            <a:ext cx="123444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2801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rush_hour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92040" y="1280160"/>
            <a:ext cx="123444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801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limited_slots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123444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2801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slow_entry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60920" y="1280160"/>
            <a:ext cx="132588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2801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exit_congestion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1591056"/>
            <a:ext cx="196596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1591056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</a:rPr>
              <a:t>Avg entry wait (min)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159105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15910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49.5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0" y="159105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5910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108.7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159105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5910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69.0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591056"/>
            <a:ext cx="123444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5910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</a:rPr>
              <a:t>127.0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60920" y="1591056"/>
            <a:ext cx="132588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15910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57.2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1911096"/>
            <a:ext cx="1965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1911096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</a:rPr>
              <a:t>Avg exit wait (min)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23160" y="191109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19110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33.7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0" y="191109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19110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37.6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191109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9110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45.0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191109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19110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5.5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60920" y="1911096"/>
            <a:ext cx="13258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19110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</a:rPr>
              <a:t>119.0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2231136"/>
            <a:ext cx="196596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2231136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</a:rPr>
              <a:t>Time in system (min)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23160" y="223113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23160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131.5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0" y="223113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195.4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92040" y="223113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182.8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223113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183.5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60920" y="2231136"/>
            <a:ext cx="13258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60920" y="223113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</a:rPr>
              <a:t>228.8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2551176"/>
            <a:ext cx="1965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" y="2551176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</a:rPr>
              <a:t>Throughput (veh/hr)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423160" y="255117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23160" y="25511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9.7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0" y="2551176"/>
            <a:ext cx="123444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0" y="25511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</a:rPr>
              <a:t>10.0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92040" y="255117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25511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7.5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26480" y="255117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0" y="25511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8.4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360920" y="2551176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60920" y="255117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6.5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" y="2871216"/>
            <a:ext cx="196596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2064" y="2871216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</a:rPr>
              <a:t>Entry gate util 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423160" y="287121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23160" y="28712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58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657600" y="287121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0" y="28712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66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892040" y="287121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92040" y="28712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58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26480" y="2871216"/>
            <a:ext cx="123444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26480" y="28712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</a:rPr>
              <a:t>86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360920" y="2871216"/>
            <a:ext cx="132588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60920" y="28712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39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7200" y="3191256"/>
            <a:ext cx="1965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2064" y="3191256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</a:rPr>
              <a:t>Exit gate util %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423160" y="319125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23160" y="31912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80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657600" y="319125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57600" y="31912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85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892040" y="319125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92040" y="31912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80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126480" y="319125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26480" y="31912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69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360920" y="3191256"/>
            <a:ext cx="13258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360920" y="31912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</a:rPr>
              <a:t>89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57200" y="3511296"/>
            <a:ext cx="196596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2064" y="3511296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</a:rPr>
              <a:t>Max exit queue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423160" y="351129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423160" y="35112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13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657600" y="351129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57600" y="35112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892040" y="351129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892040" y="35112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126480" y="3511296"/>
            <a:ext cx="1234440" cy="320040"/>
          </a:xfrm>
          <a:prstGeom prst="rect">
            <a:avLst/>
          </a:prstGeom>
          <a:solidFill>
            <a:srgbClr val="EDF2F8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26480" y="35112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4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360920" y="3511296"/>
            <a:ext cx="13258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360920" y="35112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</a:rPr>
              <a:t>29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457200" y="3831336"/>
            <a:ext cx="1965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12064" y="3831336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</a:rPr>
              <a:t>Denied vehicles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423160" y="383133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423160" y="38313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0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657600" y="383133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657600" y="38313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892040" y="3831336"/>
            <a:ext cx="123444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892040" y="38313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</a:rPr>
              <a:t>13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6126480" y="3831336"/>
            <a:ext cx="1234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126480" y="38313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0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7360920" y="3831336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360920" y="383133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0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411480" y="449884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Highlighted cells = highest / worst value per metric. Gate utilization identifies the bottleneck: ~86–89% = the limiter.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7B — COMPARISON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Scenario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11480" y="1298448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33284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Avg Entry Wait (min)</a:t>
            </a:r>
            <a:endParaRPr lang="en-US" sz="9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17720" y="1298448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617720" y="33284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Avg Exit Wait (min)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11480" y="3630168"/>
            <a:ext cx="4114800" cy="896112"/>
          </a:xfrm>
          <a:prstGeom prst="rect">
            <a:avLst/>
          </a:prstGeom>
          <a:solidFill>
            <a:srgbClr val="F0F4FA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21208" y="367588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A11"/>
                </a:solidFill>
              </a:rPr>
              <a:t>slow_entry vs exit_congestion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21208" y="3904488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Same arrival load — opposite bottleneck. Entry util 86% vs Exit util 89%. Each slow gate becomes the high-util / high-wait resource while the other idles.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63440" y="3630168"/>
            <a:ext cx="4114800" cy="896112"/>
          </a:xfrm>
          <a:prstGeom prst="rect">
            <a:avLst/>
          </a:prstGeom>
          <a:solidFill>
            <a:srgbClr val="F0F4FA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73168" y="367588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</a:rPr>
              <a:t>baseline vs rush_hour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73168" y="3904488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Same total capacity, same gate speed. Clustered arrivals push entry wait from 49→109 min and peak entry queue from 25→55. Pattern, not capacity, is the stressor.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7B — COMPARISON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Gate Configuration — "One Cashier vs. Two Cashiers"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80160"/>
            <a:ext cx="192024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53312"/>
            <a:ext cx="177393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</a:rPr>
              <a:t>−59%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84632" y="1757477"/>
            <a:ext cx="177393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slow_entry: +1 entry gate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192024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353312"/>
            <a:ext cx="177393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127→52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42032" y="1757477"/>
            <a:ext cx="177393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entry wait: 127 → 52 min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26280" y="1280160"/>
            <a:ext cx="192024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353312"/>
            <a:ext cx="177393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5A11"/>
                </a:solidFill>
              </a:rPr>
              <a:t>−85%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99432" y="1757477"/>
            <a:ext cx="177393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exit_congestion: +1 exit gate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83680" y="1280160"/>
            <a:ext cx="192024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1353312"/>
            <a:ext cx="177393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119→18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56832" y="1757477"/>
            <a:ext cx="177393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exit wait: 119 → 18 min</a:t>
            </a:r>
            <a:endParaRPr lang="en-US" sz="8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11480" y="224028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4087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slow_entry — Avg Entry Wait (min) by map</a:t>
            </a:r>
            <a:endParaRPr lang="en-US" sz="9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4617720" y="224028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4617720" y="4087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exit_congestion — Avg Exit Wait (min) by map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11480" y="4334256"/>
            <a:ext cx="832104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4361688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5A11"/>
                </a:solidFill>
              </a:rPr>
              <a:t>⚠  Adding a gate only helps at the bottleneck. For exit_congestion, a second entry gate made exit wait WORSE (119→154 min) — it fed the jammed exit faster.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A11"/>
                </a:solidFill>
              </a:rPr>
              <a:t>ITEM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Conclusion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98448"/>
            <a:ext cx="4069080" cy="2743200"/>
          </a:xfrm>
          <a:prstGeom prst="rect">
            <a:avLst/>
          </a:prstGeom>
          <a:solidFill>
            <a:srgbClr val="F0F4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4069080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167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700784"/>
            <a:ext cx="38221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Gate utilization identifies the bottleneck (~86–89% = the limiter).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Arrival clustering inflates waits even with adequate capacity.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Parking capacity is a separate constraint — causes denials regardless of gate speed.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Adding a gate lane only helps at the bottleneck; adding it elsewhere can make things worse.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4069080" cy="2743200"/>
          </a:xfrm>
          <a:prstGeom prst="rect">
            <a:avLst/>
          </a:prstGeom>
          <a:solidFill>
            <a:srgbClr val="F0F4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98448"/>
            <a:ext cx="406908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167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82312" y="1700784"/>
            <a:ext cx="38221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Add a second lane at the bottleneck gate (entry for arrival surges; exit for end-of-day congestion). Use gate utilization to decide which.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Stagger demand (e.g., off-peak promotions) to flatten arrival clusters.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Match usable capacity to demand to cut denials.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</a:rPr>
              <a:t>Future work: multiple replications with confidence intervals; CSV export; in-UI gate/arrival editing.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731520"/>
            <a:ext cx="8321040" cy="36576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77740"/>
            <a:ext cx="8321040" cy="36576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2E75B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1965960" cy="731520"/>
          </a:xfrm>
          <a:prstGeom prst="rect">
            <a:avLst/>
          </a:prstGeom>
          <a:solidFill>
            <a:srgbClr val="F0F4FA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266090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slow_entry bottleneck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289864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entry wait 127→52 min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+1 entry gate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2606040"/>
            <a:ext cx="1965960" cy="731520"/>
          </a:xfrm>
          <a:prstGeom prst="rect">
            <a:avLst/>
          </a:prstGeom>
          <a:solidFill>
            <a:srgbClr val="F0F4FA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266090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exit_congestion bottleneck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87752" y="289864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exit wait 119→18 min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+1 exit gate → 2× throughput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2606040"/>
            <a:ext cx="1965960" cy="731520"/>
          </a:xfrm>
          <a:prstGeom prst="rect">
            <a:avLst/>
          </a:prstGeom>
          <a:solidFill>
            <a:srgbClr val="F0F4FA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66090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rush_hour 2×2 map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289864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throughput 10→17.3 veh/hr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(+72%)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2606040"/>
            <a:ext cx="1965960" cy="731520"/>
          </a:xfrm>
          <a:prstGeom prst="rect">
            <a:avLst/>
          </a:prstGeom>
          <a:solidFill>
            <a:srgbClr val="F0F4FA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266090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limited_slots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93992" y="289864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13 denied vehicles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100% occupancy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86 automated tests passing  ·  python3 -m unittest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 Parking Flow – Modeling &amp; Simulation</dc:title>
  <dc:subject>PptxGenJS Presentation</dc:subject>
  <dc:creator>CSE 10/L Group</dc:creator>
  <cp:lastModifiedBy>CSE 10/L Group</cp:lastModifiedBy>
  <cp:revision>1</cp:revision>
  <dcterms:created xsi:type="dcterms:W3CDTF">2026-06-17T18:25:43Z</dcterms:created>
  <dcterms:modified xsi:type="dcterms:W3CDTF">2026-06-17T18:25:43Z</dcterms:modified>
</cp:coreProperties>
</file>