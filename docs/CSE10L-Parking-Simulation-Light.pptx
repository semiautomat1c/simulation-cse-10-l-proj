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rebuchet MS"/>
              </a:rPr>
              <a:t>Average waiting time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wait</c:v>
                </c:pt>
              </c:strCache>
            </c:strRef>
          </c:tx>
          <c:spPr>
            <a:solidFill>
              <a:srgbClr val="4E9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 Hour</c:v>
                  </c:pt>
                  <c:pt idx="2">
                    <c:v>Limited Slots</c:v>
                  </c:pt>
                  <c:pt idx="3">
                    <c:v>Slow Entry</c:v>
                  </c:pt>
                  <c:pt idx="4">
                    <c:v>Exit Cong.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49.5</c:v>
                </c:pt>
                <c:pt idx="1">
                  <c:v>108.7</c:v>
                </c:pt>
                <c:pt idx="2">
                  <c:v>69</c:v>
                </c:pt>
                <c:pt idx="3">
                  <c:v>127</c:v>
                </c:pt>
                <c:pt idx="4">
                  <c:v>57.2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Exit wait</c:v>
                </c:pt>
              </c:strCache>
            </c:strRef>
          </c:tx>
          <c:spPr>
            <a:solidFill>
              <a:srgbClr val="EF5B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 Hour</c:v>
                  </c:pt>
                  <c:pt idx="2">
                    <c:v>Limited Slots</c:v>
                  </c:pt>
                  <c:pt idx="3">
                    <c:v>Slow Entry</c:v>
                  </c:pt>
                  <c:pt idx="4">
                    <c:v>Exit Cong.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33.7</c:v>
                </c:pt>
                <c:pt idx="1">
                  <c:v>37.6</c:v>
                </c:pt>
                <c:pt idx="2">
                  <c:v>45</c:v>
                </c:pt>
                <c:pt idx="3">
                  <c:v>5.5</c:v>
                </c:pt>
                <c:pt idx="4">
                  <c:v>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B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2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EB8B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5F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8B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rebuchet MS"/>
              </a:rPr>
              <a:t>Gate utilization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gate</c:v>
                </c:pt>
              </c:strCache>
            </c:strRef>
          </c:tx>
          <c:spPr>
            <a:solidFill>
              <a:srgbClr val="FFBA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 Hour</c:v>
                  </c:pt>
                  <c:pt idx="2">
                    <c:v>Limited Slots</c:v>
                  </c:pt>
                  <c:pt idx="3">
                    <c:v>Slow Entry</c:v>
                  </c:pt>
                  <c:pt idx="4">
                    <c:v>Exit Cong.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65.7</c:v>
                </c:pt>
                <c:pt idx="2">
                  <c:v>58.4</c:v>
                </c:pt>
                <c:pt idx="3">
                  <c:v>86</c:v>
                </c:pt>
                <c:pt idx="4">
                  <c:v>39.3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Exit gate</c:v>
                </c:pt>
              </c:strCache>
            </c:strRef>
          </c:tx>
          <c:spPr>
            <a:solidFill>
              <a:srgbClr val="55D4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 Hour</c:v>
                  </c:pt>
                  <c:pt idx="2">
                    <c:v>Limited Slots</c:v>
                  </c:pt>
                  <c:pt idx="3">
                    <c:v>Slow Entry</c:v>
                  </c:pt>
                  <c:pt idx="4">
                    <c:v>Exit Cong.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80.2</c:v>
                </c:pt>
                <c:pt idx="1">
                  <c:v>85.1</c:v>
                </c:pt>
                <c:pt idx="2">
                  <c:v>79.9</c:v>
                </c:pt>
                <c:pt idx="3">
                  <c:v>69.3</c:v>
                </c:pt>
                <c:pt idx="4">
                  <c:v>89.3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B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2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EB8B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5F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8B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0604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81812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5548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16152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CSE 10/L · MODELING AND SIMULATION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Mall Parking Flow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Discrete-Event Simulation of Entry, Parking &amp; Exit Congestion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SimPy · FastAPI · a live browser dashboard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972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add names here ›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section ›       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instructor ›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date ›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parking lot is a queuing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arrive over time, wait at a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gate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search for and occupy a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slot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dwell while shopping, then queue at an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leave.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serves one vehicle at a time and capacity is finite — so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(queues) forms whenever demand outpaces service.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5852160" cy="1417320"/>
          </a:xfrm>
          <a:prstGeom prst="rect">
            <a:avLst/>
          </a:prstGeom>
          <a:solidFill>
            <a:srgbClr val="F5F5F5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lets us test “what if” changes — more demand, fewer slots, slower gates — and measure the impact without rebuilding the real lot.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0" y="18288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E8E8"/>
          </a:solidFill>
          <a:ln w="19050">
            <a:solidFill>
              <a:srgbClr val="4E9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16368" y="1965960"/>
            <a:ext cx="292608" cy="292608"/>
          </a:xfrm>
          <a:prstGeom prst="ellipse">
            <a:avLst/>
          </a:prstGeom>
          <a:solidFill>
            <a:srgbClr val="4E9CFF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8288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098280" y="23591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70662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E8E8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16368" y="2843784"/>
            <a:ext cx="292608" cy="292608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70662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gate + queue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98280" y="32369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58444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E8E8"/>
          </a:solidFill>
          <a:ln w="19050">
            <a:solidFill>
              <a:srgbClr val="55D4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3721608"/>
            <a:ext cx="292608" cy="292608"/>
          </a:xfrm>
          <a:prstGeom prst="ellipse">
            <a:avLst/>
          </a:prstGeom>
          <a:solidFill>
            <a:srgbClr val="55D47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35844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park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98280" y="41148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446227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E8E8"/>
          </a:solidFill>
          <a:ln w="19050">
            <a:solidFill>
              <a:srgbClr val="EF5B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6368" y="4599432"/>
            <a:ext cx="292608" cy="292608"/>
          </a:xfrm>
          <a:prstGeom prst="ellipse">
            <a:avLst/>
          </a:prstGeom>
          <a:solidFill>
            <a:srgbClr val="EF5B54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44622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 + queue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098280" y="49926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534009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E8E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6368" y="5477256"/>
            <a:ext cx="292608" cy="2926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534009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PROBLEM DEFINITION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bottlenecks — and a capacity limit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2044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3520440" cy="109728"/>
          </a:xfrm>
          <a:prstGeom prst="rect">
            <a:avLst/>
          </a:prstGeom>
          <a:solidFill>
            <a:srgbClr val="EF5B5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40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B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 gate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builds at the ticket gate when arrivals cluster or gate processing is slow — vehicles wait before they can even enter.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352044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20240"/>
            <a:ext cx="3520440" cy="109728"/>
          </a:xfrm>
          <a:prstGeom prst="rect">
            <a:avLst/>
          </a:prstGeom>
          <a:solidFill>
            <a:srgbClr val="FFBA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40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gate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builds at the exit when many vehicles leave at once or exit processing is slow — the post-shopping surge.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503920" y="1920240"/>
            <a:ext cx="352044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20240"/>
            <a:ext cx="3520440" cy="109728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2240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lot → denials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7824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compatible slot is free, a vehicle is denied entry entirely — a lost visit, not just a delay.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simulation analyzes: 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bottleneck dominates under each condition, and how sensitive waiting time is to capacity and gate speed.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simulation sets out to 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4924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221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queue performance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737360" y="2743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and queue length at the entry and exit gates.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534924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0" y="2258568"/>
            <a:ext cx="640080" cy="640080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0" y="2221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resource utilization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98080" y="2743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busy the entry gate, exit gate, and parking capacity are.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34924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407408"/>
            <a:ext cx="640080" cy="640080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07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370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Quantify throughput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737360" y="4892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completed per hour and total time in the system.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4114800"/>
            <a:ext cx="534924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4407408"/>
            <a:ext cx="640080" cy="640080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407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0" y="4370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operational scenarios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498080" y="4892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arrival patterns, capacity, and gate speeds — find the bottleneck.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SYSTEM MODEL &amp;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Discrete-event building blocks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109728" cy="1828800"/>
          </a:xfrm>
          <a:prstGeom prst="rect">
            <a:avLst/>
          </a:prstGeom>
          <a:solidFill>
            <a:srgbClr val="4E9C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791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— cars and motorcycles, each with an arrival time and a type.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352044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65960"/>
            <a:ext cx="109728" cy="1828800"/>
          </a:xfrm>
          <a:prstGeom prst="rect">
            <a:avLst/>
          </a:prstGeom>
          <a:solidFill>
            <a:srgbClr val="FFBA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6791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· gate service start/end · search &amp; park · exit request · departure.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503920" y="1965960"/>
            <a:ext cx="352044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65960"/>
            <a:ext cx="109728" cy="1828800"/>
          </a:xfrm>
          <a:prstGeom prst="rect">
            <a:avLst/>
          </a:prstGeom>
          <a:solidFill>
            <a:srgbClr val="55D47F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D4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26791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gate (capacity 1) · exit gate (capacity 1) · typed parking slot pools.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06040" y="4114800"/>
            <a:ext cx="352044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4114800"/>
            <a:ext cx="109728" cy="1828800"/>
          </a:xfrm>
          <a:prstGeom prst="rect">
            <a:avLst/>
          </a:prstGeom>
          <a:solidFill>
            <a:srgbClr val="EF5B54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5B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26080" y="482803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queue and exit queue — first-in, first-out before each gate.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4114800"/>
            <a:ext cx="352044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4114800"/>
            <a:ext cx="109728" cy="182880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variables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482803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state (×10) · queue lengths · slots free/occupied · denied &amp; completed · clock.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PROCESS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lifecycle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9050">
            <a:solidFill>
              <a:srgbClr val="4E9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2537460"/>
            <a:ext cx="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queue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2537460"/>
            <a:ext cx="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2537460"/>
            <a:ext cx="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8660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9050">
            <a:solidFill>
              <a:srgbClr val="55D4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0" y="2537460"/>
            <a:ext cx="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9050">
            <a:solidFill>
              <a:srgbClr val="55D4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49840" y="2926080"/>
            <a:ext cx="0" cy="180594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35440" y="43434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9050">
            <a:solidFill>
              <a:srgbClr val="EF5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4343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queue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35440" y="4732020"/>
            <a:ext cx="-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86600" y="43434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9050">
            <a:solidFill>
              <a:srgbClr val="EF5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4343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86600" y="4732020"/>
            <a:ext cx="-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37760" y="43434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9050">
            <a:solidFill>
              <a:srgbClr val="55D4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343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32461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3A1F1F"/>
          </a:solidFill>
          <a:ln w="19050">
            <a:solidFill>
              <a:srgbClr val="EF5B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(lot full)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852160" y="2926080"/>
            <a:ext cx="0" cy="320040"/>
          </a:xfrm>
          <a:prstGeom prst="line">
            <a:avLst/>
          </a:prstGeom>
          <a:noFill/>
          <a:ln w="19050">
            <a:solidFill>
              <a:srgbClr val="EF5B54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66560" y="3543300"/>
            <a:ext cx="3383280" cy="0"/>
          </a:xfrm>
          <a:prstGeom prst="line">
            <a:avLst/>
          </a:prstGeom>
          <a:noFill/>
          <a:ln w="19050">
            <a:solidFill>
              <a:srgbClr val="EF5B54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0149840" y="3543300"/>
            <a:ext cx="0" cy="800100"/>
          </a:xfrm>
          <a:prstGeom prst="line">
            <a:avLst/>
          </a:prstGeom>
          <a:noFill/>
          <a:ln w="19050">
            <a:solidFill>
              <a:srgbClr val="EF5B54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40080" y="55321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B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states: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 → entry_queue → approaching_gate → gate_wait → gate_crossing → searching → parked → exit_queue → exiting → done   (+ denied branch)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ASSUMPTIONS &amp; INPUT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assume, and how inputs are set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seeded run per scenario (repeatable for review &amp; tests).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serves one vehicle at a time; FIFO discipline.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use car slots, motorcycles use motorcycle slots; no slot → denied.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time grows as the lot fills (fuller lot → longer to find a space).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readable lanes (model abstracts away driving physics).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data was available, so arrival and service times use seeded random values within ranges chosen to produce realistic, observable behavior. Each scenario changes only a few parameters: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68680"/>
                <a:gridCol w="914400"/>
                <a:gridCol w="960120"/>
                <a:gridCol w="640080"/>
                <a:gridCol w="640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Vehicles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Usable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slots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Arrival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Entry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svc (min)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Exit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svc (min)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Baseline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44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spread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0.7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0.8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Rush Hour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clustered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0.95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Limited Slots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A55"/>
                          </a:solidFill>
                        </a:rPr>
                        <a:t>16 / 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spread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Slow Entry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spread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A55"/>
                          </a:solidFill>
                        </a:rPr>
                        <a:t>3.2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0.8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Exit Cong.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spread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0.7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A55"/>
                          </a:solidFill>
                        </a:rPr>
                        <a:t>4.0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52120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Seeds: 101 / 202 / 303 / 404 / 505. Highlights mark each scenario’s changed parameter.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the model run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and run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point out the entry queue, gate, search loop, parking, and exit flow.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462272"/>
            <a:ext cx="164592" cy="164592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rush_hour → entry pressure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73752"/>
            <a:ext cx="164592" cy="164592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limited_slots → denied vehicles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285232"/>
            <a:ext cx="164592" cy="164592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speed slider &amp; replay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696712"/>
            <a:ext cx="164592" cy="164592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“Compare scenarios” for the metrics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be ready to switch scenarios on request — covers “modify inputs during questioning.”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· EXPERIMENTAL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measure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time queued before a gate serves the vehicle.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vehicles completed per hour.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% of the run each gate is busy.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service time at the gate.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system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arrival to departure (cycle time).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852160" y="1828800"/>
            <a:ext cx="269748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2103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127 min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8076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Slow-entry gate wait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1828800"/>
            <a:ext cx="269748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0" y="2103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14400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Slow-entry gate utilization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3977640"/>
            <a:ext cx="269748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4251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5D4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119 min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80760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Exit-congestion gate wait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3977640"/>
            <a:ext cx="269748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4251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5D4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144000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exit queue (exit cong.)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· SCENARIO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 time &amp; gate utilization by scenario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9202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828800"/>
            <a:ext cx="5193792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</p:spPr>
      </p:sp>
      <p:graphicFrame>
        <p:nvGraphicFramePr>
          <p:cNvPr id="9" name="Chart 1" descr=""/>
          <p:cNvGraphicFramePr/>
          <p:nvPr/>
        </p:nvGraphicFramePr>
        <p:xfrm>
          <a:off x="6446520" y="1920240"/>
          <a:ext cx="501091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gate in each scenario becomes the high-wait, high-utilization resource — utilization pinpoints the bottleneck.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· SCENARIO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table &amp; what each scenario reveals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Rush Hour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Limited Slots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Slow Entry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Exit Cong.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Avg entry wait (min)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49.5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108.7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69.0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127.0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57.2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Avg exit wait (min)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33.7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37.6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45.0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119.0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Throughput (veh/hr)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9.7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8.4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Entry gate util (%)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58.0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65.7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58.4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86.0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39.3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Exit gate util (%)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80.2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85.1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79.9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69.3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89.3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Max exit queue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Denied vehicles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783080"/>
            <a:ext cx="3959352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0" y="1783080"/>
            <a:ext cx="91440" cy="96012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Entry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18120" y="2194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bottleneck: 86% entry-gate util, 127-min entry wait; exit idle.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89520" y="2862072"/>
            <a:ext cx="3959352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2862072"/>
            <a:ext cx="91440" cy="960120"/>
          </a:xfrm>
          <a:prstGeom prst="rect">
            <a:avLst/>
          </a:prstGeom>
          <a:solidFill>
            <a:srgbClr val="55D47F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2953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5D4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Cong.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18120" y="32735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bottleneck: 89% exit-gate util, 119-min exit wait, 29-deep exit queue.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589520" y="3941064"/>
            <a:ext cx="3959352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89520" y="3941064"/>
            <a:ext cx="91440" cy="960120"/>
          </a:xfrm>
          <a:prstGeom prst="rect">
            <a:avLst/>
          </a:prstGeom>
          <a:solidFill>
            <a:srgbClr val="FFBA55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4032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Rush Hour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18120" y="43525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capacity, clustered arrivals → entry wait doubles, queue peaks at 55.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589520" y="5020056"/>
            <a:ext cx="3959352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3943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89520" y="5020056"/>
            <a:ext cx="91440" cy="960120"/>
          </a:xfrm>
          <a:prstGeom prst="rect">
            <a:avLst/>
          </a:prstGeom>
          <a:solidFill>
            <a:srgbClr val="EF5B54"/>
          </a:solidFill>
          <a:ln/>
        </p:spPr>
      </p:sp>
      <p:sp>
        <p:nvSpPr>
          <p:cNvPr id="21" name="Text 18"/>
          <p:cNvSpPr/>
          <p:nvPr/>
        </p:nvSpPr>
        <p:spPr>
          <a:xfrm>
            <a:off x="7818120" y="5111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5B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Slots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818120" y="54315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Capacity-bound: 13 denied, throughput drops to 7.5/hr.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· CONCLUSION &amp; RECOMMENDATIONS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and what to do about them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bottlenecks (entry &amp; exit gates);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utilization cleanly identifies the limiter.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clustering inflates waiting time even when capacity is adequate.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parking is a separate constraint — it causes denials and lowers throughput.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93792" cy="4114800"/>
          </a:xfrm>
          <a:prstGeom prst="rect">
            <a:avLst/>
          </a:prstGeom>
          <a:solidFill>
            <a:srgbClr val="F5F5F5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5146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lane at the bottleneck gate — a second entry gate for rush hour, a second exit gate for end-of-day surges.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 demand (off-peak promotions) to flatten arrival clusters.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usable capacity to expected demand to avoid denials.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multiple replications with confidence intervals, in-UI parameters, CSV export.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0604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81812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5548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16152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+ JSON API · 61 automated tests (python3 -m unittest)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report in the project repository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 Parking Flow — Discrete-Event Simulation</dc:title>
  <dc:subject>PptxGenJS Presentation</dc:subject>
  <dc:creator>CSE 10/L Group</dc:creator>
  <cp:lastModifiedBy>CSE 10/L Group</cp:lastModifiedBy>
  <cp:revision>1</cp:revision>
  <dcterms:created xsi:type="dcterms:W3CDTF">2026-06-15T13:36:42Z</dcterms:created>
  <dcterms:modified xsi:type="dcterms:W3CDTF">2026-06-15T13:36:42Z</dcterms:modified>
</cp:coreProperties>
</file>